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5" r:id="rId2"/>
  </p:sldMasterIdLst>
  <p:notesMasterIdLst>
    <p:notesMasterId r:id="rId19"/>
  </p:notesMasterIdLst>
  <p:handoutMasterIdLst>
    <p:handoutMasterId r:id="rId20"/>
  </p:handoutMasterIdLst>
  <p:sldIdLst>
    <p:sldId id="365" r:id="rId3"/>
    <p:sldId id="376" r:id="rId4"/>
    <p:sldId id="377" r:id="rId5"/>
    <p:sldId id="265" r:id="rId6"/>
    <p:sldId id="378" r:id="rId7"/>
    <p:sldId id="379" r:id="rId8"/>
    <p:sldId id="276" r:id="rId9"/>
    <p:sldId id="380" r:id="rId10"/>
    <p:sldId id="293" r:id="rId11"/>
    <p:sldId id="294" r:id="rId12"/>
    <p:sldId id="296" r:id="rId13"/>
    <p:sldId id="298" r:id="rId14"/>
    <p:sldId id="300" r:id="rId15"/>
    <p:sldId id="279" r:id="rId16"/>
    <p:sldId id="295" r:id="rId17"/>
    <p:sldId id="301" r:id="rId18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язательные слайды" id="{248E5CD8-1028-4246-90C7-3263F7F286D3}">
          <p14:sldIdLst>
            <p14:sldId id="365"/>
            <p14:sldId id="376"/>
            <p14:sldId id="377"/>
            <p14:sldId id="265"/>
            <p14:sldId id="378"/>
            <p14:sldId id="379"/>
            <p14:sldId id="276"/>
            <p14:sldId id="380"/>
            <p14:sldId id="293"/>
            <p14:sldId id="294"/>
            <p14:sldId id="296"/>
            <p14:sldId id="298"/>
            <p14:sldId id="300"/>
            <p14:sldId id="279"/>
            <p14:sldId id="295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63" autoAdjust="0"/>
    <p:restoredTop sz="95857"/>
  </p:normalViewPr>
  <p:slideViewPr>
    <p:cSldViewPr snapToGrid="0" showGuides="1">
      <p:cViewPr varScale="1">
        <p:scale>
          <a:sx n="103" d="100"/>
          <a:sy n="103" d="100"/>
        </p:scale>
        <p:origin x="232" y="104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7999999999998E-2"/>
          <c:y val="0.12693499999999999"/>
          <c:w val="0.92608599999999996"/>
          <c:h val="0.667471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ИТ: резюме на 1 вакансию (hh.индекс)</c:v>
                </c:pt>
              </c:strCache>
            </c:strRef>
          </c:tx>
          <c:spPr>
            <a:prstGeom prst="rect">
              <a:avLst/>
            </a:prstGeom>
            <a:gradFill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Январь 2026</c:v>
                </c:pt>
                <c:pt idx="1">
                  <c:v>Март 2026</c:v>
                </c:pt>
                <c:pt idx="2">
                  <c:v>Апрель 2026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21.3</c:v>
                </c:pt>
                <c:pt idx="1">
                  <c:v>22.9</c:v>
                </c:pt>
                <c:pt idx="2">
                  <c:v>22.6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35-47D2-BF26-0B26516663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Весь рынок труда (hh.индекс)</c:v>
                </c:pt>
              </c:strCache>
            </c:strRef>
          </c:tx>
          <c:spPr>
            <a:prstGeom prst="rect">
              <a:avLst/>
            </a:prstGeom>
            <a:gradFill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Январь 2026</c:v>
                </c:pt>
                <c:pt idx="1">
                  <c:v>Март 2026</c:v>
                </c:pt>
                <c:pt idx="2">
                  <c:v>Апрель 2026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9.6</c:v>
                </c:pt>
                <c:pt idx="1">
                  <c:v>11.4</c:v>
                </c:pt>
                <c:pt idx="2">
                  <c:v>10.3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35-47D2-BF26-0B26516663F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1"/>
        <c:axPos val="l"/>
        <c:majorGridlines>
          <c:spPr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out"/>
        <c:minorTickMark val="none"/>
        <c:tickLblPos val="nextTo"/>
        <c:crossAx val="1688540351"/>
        <c:crosses val="autoZero"/>
        <c:crossBetween val="between"/>
        <c:majorUnit val="5"/>
      </c:valAx>
      <c:spPr>
        <a:prstGeom prst="rect">
          <a:avLst/>
        </a:prstGeom>
        <a:noFill/>
        <a:ln>
          <a:noFill/>
        </a:ln>
        <a:effectLst/>
      </c:spPr>
    </c:plotArea>
    <c:legend>
      <c:legendPos val="b"/>
      <c:overlay val="0"/>
      <c:spPr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xfrm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9B8682-549C-E1BB-F508-D1525C1FC77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F3B14-7AC8-406F-A299-37D374056E4F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5E67B9-54C4-EB22-8C9E-0FC5BA1455A2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F06EBC-152B-39B7-84F3-BD9F4D07ECD0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440481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7668913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573249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F3B14-7AC8-406F-A299-37D374056E4F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299260-C65D-4A5C-3C37-B22449FEC14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4051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0EF839-8C2F-1635-BA9E-18E16C384912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1538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0EF839-8C2F-1635-BA9E-18E16C384912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0EF839-8C2F-1635-BA9E-18E16C384912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0521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09.10.2026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09.10.2026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09.10.2026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09.10.2026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09.10.2026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09.10.2026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5451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19112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09.10.2026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12925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09.10.2026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829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09.10.2026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21915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09.10.2026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85839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09.10.2026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01903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09.10.2026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681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09.10.2026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0176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09.10.2026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12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09.10.2026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257562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09.10.2026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335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09.10.2026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415175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09.10.2026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467204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09.10.2026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09181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09.10.2026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921806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09.10.2026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32002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09.10.2026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92694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09.10.2026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02520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09.10.2026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16066710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09.10.2026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4043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09.10.2026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83637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047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09.10.2026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876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 dirty="0"/>
              <a:t>ЭВЕКТИО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>Цифровая платформа-агрегатор ИТ-вакансий </a:t>
            </a:r>
            <a:br>
              <a:rPr lang="ru-RU" dirty="0"/>
            </a:br>
            <a:r>
              <a:rPr lang="ru-RU" dirty="0"/>
              <a:t>с 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87ABB3-518D-47AB-AD62-CB3B2E885C5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7" b="9107"/>
          <a:stretch>
            <a:fillRect/>
          </a:stretch>
        </p:blipFill>
        <p:spPr bwMode="auto">
          <a:xfrm>
            <a:off x="0" y="334963"/>
            <a:ext cx="6456363" cy="2971800"/>
          </a:xfrm>
        </p:spPr>
      </p:pic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Краткое описание решения: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14802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Вместо массовых откликов — персональные предложения работодателей, основанные на объективном тестировании, прозрачном ранжировании кандидатов и подтверждённых спортивных достижениях.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1" y="3883009"/>
            <a:ext cx="5869457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Char char="§"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Капитан: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Захаров Андрей,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project-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менеджер, разработчик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Char char="§"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Кол-во участников: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2 человека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Char char="§"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Краткое описание: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Tx/>
              <a:buChar char="-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Коллеги по работе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Tx/>
              <a:buChar char="-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ФНКЦ РР</a:t>
            </a:r>
          </a:p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Tx/>
              <a:buChar char="-"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Город и регион: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Москва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О команде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4884824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accent5"/>
                </a:solidFill>
                <a:latin typeface="Montserrat"/>
              </a:rPr>
              <a:t>КОМАНДА «ЭВЕКТИО»</a:t>
            </a: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Уникальность решения: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181797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«Драфт» — платформа обратного ИТ-рекрутинга, которая оценивает компетенции кандидатов, определяет их профессиональный уровень и помогает работодателям находить специалистов с учётом подтверждённых достижений ФСП.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6563945" y="1522006"/>
            <a:ext cx="3725215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6736229" y="4494881"/>
            <a:ext cx="3500143" cy="137975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Montserrat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Врач, научный сотрудник, разработчик</a:t>
            </a:r>
            <a:endParaRPr dirty="0"/>
          </a:p>
          <a:p>
            <a:pPr>
              <a:spcBef>
                <a:spcPts val="0"/>
              </a:spcBef>
              <a:buFont typeface="Montserrat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realzel</a:t>
            </a:r>
            <a:endParaRPr dirty="0"/>
          </a:p>
          <a:p>
            <a:pPr>
              <a:spcBef>
                <a:spcPts val="0"/>
              </a:spcBef>
              <a:buFont typeface="Montserrat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+79055660646</a:t>
            </a:r>
            <a:endParaRPr dirty="0"/>
          </a:p>
          <a:p>
            <a:pPr>
              <a:spcBef>
                <a:spcPts val="0"/>
              </a:spcBef>
              <a:buFont typeface="Montserrat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ФНКЦ РР</a:t>
            </a: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6736229" y="3622118"/>
            <a:ext cx="1722566" cy="6720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Илья</a:t>
            </a:r>
          </a:p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Борисов</a:t>
            </a:r>
            <a:endParaRPr dirty="0"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1325467" y="1522006"/>
            <a:ext cx="3725215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013460-640F-463E-86C4-A6AB96C59AF5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bright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945" t="3988" r="17436" b="61059"/>
          <a:stretch/>
        </p:blipFill>
        <p:spPr bwMode="auto">
          <a:xfrm>
            <a:off x="2141781" y="1795645"/>
            <a:ext cx="2009787" cy="17400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41BBE72-7ACD-4D82-998E-4541B8CF375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900"/>
                    </a14:imgEffect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002" b="2002"/>
          <a:stretch/>
        </p:blipFill>
        <p:spPr bwMode="auto">
          <a:xfrm>
            <a:off x="7511580" y="1861108"/>
            <a:ext cx="1864521" cy="16686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67837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«ЭВЕКТИО»</a:t>
            </a: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1497751" y="4494881"/>
            <a:ext cx="3362686" cy="1371449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Montserrat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Project-</a:t>
            </a:r>
            <a:r>
              <a:rPr lang="ru-RU" sz="1200" dirty="0">
                <a:solidFill>
                  <a:schemeClr val="tx1"/>
                </a:solidFill>
              </a:rPr>
              <a:t>менеджер, разработчик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Montserrat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zakharov_aa</a:t>
            </a:r>
            <a:endParaRPr lang="ru-RU"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Montserrat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+79036845048</a:t>
            </a:r>
            <a:endParaRPr lang="ru-RU"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Montserrat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ФНКЦ РР</a:t>
            </a:r>
            <a:endParaRPr dirty="0"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1497751" y="3622118"/>
            <a:ext cx="2841788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Андрей</a:t>
            </a:r>
          </a:p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Захаров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9928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«ЭВЕКТИО»</a:t>
            </a: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1087990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Нас двое: врач и инженер. Это наше второе участие в </a:t>
            </a:r>
            <a:r>
              <a:rPr lang="ru-RU" dirty="0" err="1">
                <a:solidFill>
                  <a:schemeClr val="tx1"/>
                </a:solidFill>
              </a:rPr>
              <a:t>хакатоне</a:t>
            </a:r>
            <a:r>
              <a:rPr lang="ru-RU" dirty="0">
                <a:solidFill>
                  <a:schemeClr val="tx1"/>
                </a:solidFill>
              </a:rPr>
              <a:t>. Очередной повод для нас объединить навыки и проверить, что мы можем создать вместе. Соревновательный дух нам близок: интересно не только спорить друг с другом о том, чьё решение лучше, но и выступить одной командой, чтобы побороться с другими участниками.</a:t>
            </a:r>
            <a:endParaRPr dirty="0"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Краткая история команды: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1087990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За ограниченное время требовалось объединить множество взаимосвязанных компонентов в единую работающую систему. Особую сложность представляли проектирование архитектуры, интеграция различных источников данных и реализация механизма верификации достижений.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1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С какими основными сложностями или вызовами </a:t>
            </a:r>
            <a:b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</a:b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вы столкнулись и как их преодолели?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1087990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Нас привлекла прежде всего масштабность задачи: она объединяет множество взаимосвязанных компонентов, требует продуманной архитектуры, интеграции различных сервисов и нестандартных технических решений. А тот факт, что задача представлена в рамках соревнований по спортивному программированию, лишь усилил наш интерес и мотивацию.</a:t>
            </a: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Почему вы выбрали именно эту задачу </a:t>
            </a:r>
            <a:b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</a:b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из предложенных на хакатоне?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78755" rtl="0" eaLnBrk="1" fontAlgn="auto" latinLnBrk="0" hangingPunct="1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01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02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/>
              <a:buNone/>
              <a:tabLst/>
              <a:defRPr/>
            </a:pPr>
            <a:r>
              <a:rPr kumimoji="0" lang="ru-RU" sz="1400" b="1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03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42798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Мы разработали прототип платформы «Драфт», реализующей принцип обратного ИТ-рекрутинга: не кандидат ищет работодателя, а работодатель самостоятельно находит подходящего специалиста и направляет ему персональное предложение.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В основе решения — система объективной категоризации кандидатов. При регистрации пользователь определяет свою специализацию и предполагаемый грейд, после чего проходит профессиональное тестирование. На основании результатов формируется подтверждённый профиль, а участник распределяется в соответствующую категорию.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Работодатель описывает требования к специалисту и получает ранжированную подборку кандидатов с объяснением соответствия. Дополнительным фактором оценки выступают достижения в соревнованиях Федерации спортивного программирования.</a:t>
            </a: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42798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«Драфт» переносит инициативу к работодателю. Компания получает доступ к специалистам, предварительно распределённым по специализациям и подтверждённым уровням подготовки, и может адресно предложить работу наиболее подходящему кандидату.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Для соискателя это означает меньше бессмысленных откликов и возможность получать предложения с заранее известными условиями оплаты. Для работодателя — сокращение объёма первичного отбора и более обоснованный выбор специалистов.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Дополнительное преимущество — интеграция достижений ФСП, позволяющая талантливым программистам подтверждать свои способности независимо от продолжительности коммерческого опыта.</a:t>
            </a: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КОРОТКО О РЕШЕНИИ</a:t>
            </a:r>
            <a:endParaRPr dirty="0"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  <a:endParaRPr dirty="0"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4"/>
            <a:ext cx="5214724" cy="444344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dirty="0"/>
          </a:p>
          <a:p>
            <a:pPr>
              <a:lnSpc>
                <a:spcPct val="100000"/>
              </a:lnSpc>
              <a:defRPr/>
            </a:pP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4368" name="Прямоугольник 29"/>
          <p:cNvSpPr/>
          <p:nvPr/>
        </p:nvSpPr>
        <p:spPr bwMode="auto">
          <a:xfrm>
            <a:off x="0" y="-262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994751754" name="Объект 28"/>
          <p:cNvSpPr>
            <a:spLocks noGrp="1"/>
          </p:cNvSpPr>
          <p:nvPr>
            <p:ph idx="1"/>
          </p:nvPr>
        </p:nvSpPr>
        <p:spPr bwMode="auto">
          <a:xfrm>
            <a:off x="346075" y="1216567"/>
            <a:ext cx="5890914" cy="550491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Платформа объединяет два личных кабинета — кандидата и работодателя — в рамках единого процесса профессионального подбора.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Кандидат регистрируется, заполняет профиль или загружает резюме, указывает специализацию, технологический стек и предполагаемый грейд. Затем проходит тестирование, по результатам которого система определяет его категорию и формирует профиль с оценкой компетенций. Дополнительно профиль может связываться с историей достижений ФСП.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Работодатель описывает потребность: специализацию, стек технологий, уровень подготовки и задачи будущего сотрудника. Система подбирает соответствующие категории и ранжирует кандидатов с учётом результатов тестирования и подтверждённых достижений.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Работодатель может направить персональное приглашение с описанием предложения и зарплатным диапазоном даже без публикации отдельной вакансии. Кандидат принимает или отклоняет предложение, а обе стороны отслеживают его статус. Контактные данные раскрываются только после согласия кандидата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Скругленный прямоугольник 9">
            <a:extLst>
              <a:ext uri="{FF2B5EF4-FFF2-40B4-BE49-F238E27FC236}">
                <a16:creationId xmlns:a16="http://schemas.microsoft.com/office/drawing/2014/main" id="{7A53870E-B71A-44DA-A126-B3A0DD0C71B3}"/>
              </a:ext>
            </a:extLst>
          </p:cNvPr>
          <p:cNvSpPr/>
          <p:nvPr/>
        </p:nvSpPr>
        <p:spPr bwMode="auto">
          <a:xfrm>
            <a:off x="346075" y="324562"/>
            <a:ext cx="557486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029284307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bg1"/>
                </a:solidFill>
              </a:rPr>
              <a:t>ПОДРОБНОЕ ОПИСАНИЕ РЕШЕНИЯ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176370-4A05-4B22-8BFA-C04BFB0211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456363" y="888666"/>
            <a:ext cx="5735637" cy="5969334"/>
          </a:xfrm>
          <a:prstGeom prst="rect">
            <a:avLst/>
          </a:prstGeom>
        </p:spPr>
      </p:pic>
      <p:sp>
        <p:nvSpPr>
          <p:cNvPr id="206522002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425051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150671869" name="Скругленный прямоугольник 11"/>
          <p:cNvSpPr/>
          <p:nvPr/>
        </p:nvSpPr>
        <p:spPr bwMode="auto">
          <a:xfrm>
            <a:off x="6286500" y="2669767"/>
            <a:ext cx="5570538" cy="1829523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19896725" name="Скругленный прямоугольник 10"/>
          <p:cNvSpPr/>
          <p:nvPr/>
        </p:nvSpPr>
        <p:spPr bwMode="auto">
          <a:xfrm>
            <a:off x="6286500" y="917525"/>
            <a:ext cx="5570538" cy="1511870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005219055" name="Скругленный прямоугольник 1"/>
          <p:cNvSpPr/>
          <p:nvPr/>
        </p:nvSpPr>
        <p:spPr bwMode="auto">
          <a:xfrm>
            <a:off x="346074" y="324562"/>
            <a:ext cx="564324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706338296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474682657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156625"/>
            <a:ext cx="4790314" cy="1205782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На одну ИТ-вакансию на hh.ru приходится 22,6 резюме — в 2,2 раза больше, чем по рынку в целом (10,3). За год вакансий в ИТ стало на 35% меньше, резюме — на 25% больше¹. 79% откликов не соответствуют требованиям работодателя².</a:t>
            </a:r>
          </a:p>
        </p:txBody>
      </p:sp>
      <p:sp>
        <p:nvSpPr>
          <p:cNvPr id="309289454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2840090"/>
            <a:ext cx="4790314" cy="159973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Рекрутер реагирует на отклик в среднем через 52 часа, в первые сутки — лишь на 24% откликов². «Драфт» заменяет разбор потока резюме подборкой кандидатов с подтверждённым тестом грейдом: </a:t>
            </a:r>
            <a:r>
              <a:rPr lang="ru-RU" b="1" dirty="0" err="1">
                <a:solidFill>
                  <a:schemeClr val="tx1"/>
                </a:solidFill>
              </a:rPr>
              <a:t>точность первых 5 кандидатов — 85% против 59% у поиска по ключевым словам резюме</a:t>
            </a:r>
            <a:r>
              <a:rPr lang="ru-RU" dirty="0">
                <a:solidFill>
                  <a:schemeClr val="tx1"/>
                </a:solidFill>
              </a:rPr>
              <a:t> (валидация на 217 потребностях).</a:t>
            </a:r>
          </a:p>
        </p:txBody>
      </p:sp>
      <p:sp>
        <p:nvSpPr>
          <p:cNvPr id="723791391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4848161"/>
            <a:ext cx="5043950" cy="150819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Продукт ориентирован на ИТ-компании, банки и интеграторов, кадровые агентства и HR-подразделения, а также на ФСП: участники соревнований получают канал трудоустройства, Федерация — инструмент развития сообщества.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Резюме много, а квалифицированных кадров не хватает: по оценке Минцифры, около 700 тыс. ИТ-специалистов, почти 80% вакансий — middle и senior³. Объективно подтверждённый уровень закрывает этот разрыв.</a:t>
            </a:r>
          </a:p>
        </p:txBody>
      </p:sp>
      <p:graphicFrame>
        <p:nvGraphicFramePr>
          <p:cNvPr id="668511626" name="Диаграмма 9"/>
          <p:cNvGraphicFramePr>
            <a:graphicFrameLocks/>
          </p:cNvGraphicFramePr>
          <p:nvPr/>
        </p:nvGraphicFramePr>
        <p:xfrm>
          <a:off x="346075" y="1005410"/>
          <a:ext cx="5749925" cy="4686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4814210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451706"/>
            <a:ext cx="5334935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МАРКЕТИНГОВАЯ ЧАСТЬ РЕШЕНИЯ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6D0B3D-5A95-40C3-966C-57065370CC7F}"/>
              </a:ext>
            </a:extLst>
          </p:cNvPr>
          <p:cNvSpPr txBox="1"/>
          <p:nvPr/>
        </p:nvSpPr>
        <p:spPr>
          <a:xfrm>
            <a:off x="620261" y="6021276"/>
            <a:ext cx="53690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00" b="0" i="0" u="none" strike="noStrike" kern="0" cap="none" spc="0" normalizeH="0" baseline="0" noProof="0" dirty="0">
                <a:ln>
                  <a:noFill/>
                </a:ln>
                <a:solidFill>
                  <a:srgbClr val="E5E7E9"/>
                </a:solidFill>
                <a:effectLst/>
                <a:uLnTx/>
                <a:uFillTx/>
                <a:latin typeface="Montserrat"/>
                <a:cs typeface="Arial"/>
              </a:rPr>
              <a:t>¹ hh.ru, «Краткий обзор рынка труда», январь, март и апрель 2026 (stats.hh.ru); hh.индекс — активные резюме на одну активную вакансию, выше 8 — высокая конкуренция. ² Платформа «Джун», I полугодие 2026 («Т-Бизнес секреты»). ³ Оценка Минцифры за 2024 г. и данные T.Hunter, доклад на RIGF 2025 («Ведомости», 3DNews, 08.04.2025).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A50865-CCE9-40A4-9A97-9D461960738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591300" y="912812"/>
            <a:ext cx="5600700" cy="5945187"/>
          </a:xfrm>
        </p:spPr>
      </p:pic>
      <p:sp>
        <p:nvSpPr>
          <p:cNvPr id="646767918" name="Скругленный прямоугольник 8"/>
          <p:cNvSpPr/>
          <p:nvPr/>
        </p:nvSpPr>
        <p:spPr bwMode="auto">
          <a:xfrm>
            <a:off x="376554" y="1318260"/>
            <a:ext cx="5995372" cy="5279389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317194336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458568974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defRPr/>
            </a:pPr>
            <a:endParaRPr lang="ru-RU" sz="1800" dirty="0">
              <a:solidFill>
                <a:schemeClr val="accent5"/>
              </a:solidFill>
            </a:endParaRPr>
          </a:p>
        </p:txBody>
      </p:sp>
      <p:sp>
        <p:nvSpPr>
          <p:cNvPr id="1933660009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479502" y="1583474"/>
            <a:ext cx="5787482" cy="50141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ru-RU" sz="1600" dirty="0">
                <a:solidFill>
                  <a:schemeClr val="tx1"/>
                </a:solidFill>
              </a:rPr>
              <a:t>Экономическая ценность платформы заключается в сокращении затрат на поиск и первичную оценку ИТ-специалистов. Вместо обработки большого количества резюме работодатель получает структурированную базу кандидатов с результатами профессиональной проверки.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1600" dirty="0">
                <a:solidFill>
                  <a:schemeClr val="tx1"/>
                </a:solidFill>
              </a:rPr>
              <a:t>Основной целевой сегмент — ИТ-компании, технологические стартапы, кадровые агентства и внутренние HR-подразделения организаций.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1600" dirty="0">
                <a:solidFill>
                  <a:schemeClr val="tx1"/>
                </a:solidFill>
              </a:rPr>
              <a:t>В качестве перспективной модели монетизации рассматривается бесплатный доступ для кандидатов и подписка для работодателей. Платные возможности могут включать расширенный поиск, дополнительные приглашения, аналитику компетенций и интеграцию с корпоративными системами подбора персонала.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1600" dirty="0">
                <a:solidFill>
                  <a:schemeClr val="tx1"/>
                </a:solidFill>
              </a:rPr>
              <a:t>Важным конкурентным преимуществом является сотрудничество с ФСП: спортивные достижения превращаются в дополнительный источник доверия к кандидатам, а Федерация получает инструмент профессионального развития своего сообщества.</a:t>
            </a:r>
          </a:p>
        </p:txBody>
      </p:sp>
      <p:sp>
        <p:nvSpPr>
          <p:cNvPr id="11" name="Скругленный прямоугольник 9">
            <a:extLst>
              <a:ext uri="{FF2B5EF4-FFF2-40B4-BE49-F238E27FC236}">
                <a16:creationId xmlns:a16="http://schemas.microsoft.com/office/drawing/2014/main" id="{4147B9BA-7E51-45BE-B165-3DB79AD45E8F}"/>
              </a:ext>
            </a:extLst>
          </p:cNvPr>
          <p:cNvSpPr/>
          <p:nvPr/>
        </p:nvSpPr>
        <p:spPr bwMode="auto">
          <a:xfrm>
            <a:off x="346074" y="332182"/>
            <a:ext cx="624522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2" name="Заголовок 13">
            <a:extLst>
              <a:ext uri="{FF2B5EF4-FFF2-40B4-BE49-F238E27FC236}">
                <a16:creationId xmlns:a16="http://schemas.microsoft.com/office/drawing/2014/main" id="{81E31B3D-6447-4261-9D4B-64BA8C35090C}"/>
              </a:ext>
            </a:extLst>
          </p:cNvPr>
          <p:cNvSpPr txBox="1">
            <a:spLocks/>
          </p:cNvSpPr>
          <p:nvPr/>
        </p:nvSpPr>
        <p:spPr bwMode="auto">
          <a:xfrm>
            <a:off x="376554" y="456851"/>
            <a:ext cx="6344286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Montserrat"/>
              </a:defRPr>
            </a:lvl1pPr>
          </a:lstStyle>
          <a:p>
            <a:pPr marL="0" marR="0" lvl="0" indent="0" algn="l" defTabSz="57875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"/>
              </a:rPr>
              <a:t>БИЗНЕСОВАЯ СОСТАВЛЯЮЩАЯ РЕШЕНИЯ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604710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4" y="1360449"/>
            <a:ext cx="5177360" cy="4840325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Стек: React 18 и TypeScript (SPA для обеих ролей), FastAPI на Python 3.13, PostgreSQL 16, Docker Compose. REST API с OpenAPI, JWT RS256, вход через ФСП ID по OIDC + PKCE (совместим с Keycloak).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Оценка квалификации — банк из 226 семейств-генераторов: каждый кандидат получает свой вариант, ответ вычисляется кодом и сверен исполнением (918 из 918 ключей на 9 языках и SQL). Модель IRT 3PL и адаптивный тест (CAT): 8–22 задания, остановка, когда решение о грейде надёжно.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Подбор: текст потребности → NLP-разбор → целевые и смежные категории → ранжирование по подтверждённому грейду, навыкам из теста, достижениям ФСП с учётом профильности дисциплины, ожиданиям и формату. К каждому кандидату — объяснение и вероятность принятия приглашения.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Безопасность и 152-ФЗ: Argon2id, RBAC, шифрование контактов AES-256-GCM, журнал согласий; контакты раскрываются только после согласия кандидата. LLM и GPU не используются: данные не уходят во внешние сервисы, результат воспроизводим.</a:t>
            </a: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897380"/>
            <a:ext cx="4957144" cy="4303395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  <a:defRPr/>
            </a:pPr>
            <a:r>
              <a:rPr lang="ru-RU" sz="1400" b="1" dirty="0">
                <a:solidFill>
                  <a:schemeClr val="tx1"/>
                </a:solidFill>
              </a:rPr>
              <a:t>testing </a:t>
            </a:r>
            <a:r>
              <a:rPr lang="ru-RU" sz="1400" dirty="0">
                <a:solidFill>
                  <a:schemeClr val="tx1"/>
                </a:solidFill>
              </a:rPr>
              <a:t>— банк генераторов, IRT 3PL, CAT, контроль честности и онлайн-калибровка;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>
              <a:buFontTx/>
              <a:buChar char="-"/>
              <a:defRPr/>
            </a:pPr>
            <a:r>
              <a:rPr lang="ru-RU" sz="1400" b="1" dirty="0">
                <a:solidFill>
                  <a:schemeClr val="tx1"/>
                </a:solidFill>
              </a:rPr>
              <a:t>matching </a:t>
            </a:r>
            <a:r>
              <a:rPr lang="ru-RU" sz="1400" dirty="0">
                <a:solidFill>
                  <a:schemeClr val="tx1"/>
                </a:solidFill>
              </a:rPr>
              <a:t>— формула подбора, объяснения, сравнение кандидатов, карта категорий;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>
              <a:buFontTx/>
              <a:buChar char="-"/>
              <a:defRPr/>
            </a:pPr>
            <a:r>
              <a:rPr lang="ru-RU" sz="1400" b="1" dirty="0">
                <a:solidFill>
                  <a:schemeClr val="tx1"/>
                </a:solidFill>
              </a:rPr>
              <a:t>nlp </a:t>
            </a:r>
            <a:r>
              <a:rPr lang="ru-RU" sz="1400" dirty="0">
                <a:solidFill>
                  <a:schemeClr val="tx1"/>
                </a:solidFill>
              </a:rPr>
              <a:t>— разбор PDF-резюме и текста вакансии в структурированный запрос;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>
              <a:buFontTx/>
              <a:buChar char="-"/>
              <a:defRPr/>
            </a:pPr>
            <a:r>
              <a:rPr lang="ru-RU" sz="1400" b="1" dirty="0">
                <a:solidFill>
                  <a:schemeClr val="tx1"/>
                </a:solidFill>
              </a:rPr>
              <a:t>fsp </a:t>
            </a:r>
            <a:r>
              <a:rPr lang="ru-RU" sz="1400" dirty="0">
                <a:solidFill>
                  <a:schemeClr val="tx1"/>
                </a:solidFill>
              </a:rPr>
              <a:t>— вход через ФСП ID и реестр достижений, оценка по профильности дисциплины;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>
              <a:buFontTx/>
              <a:buChar char="-"/>
              <a:defRPr/>
            </a:pPr>
            <a:r>
              <a:rPr lang="ru-RU" sz="1400" b="1" dirty="0">
                <a:solidFill>
                  <a:schemeClr val="tx1"/>
                </a:solidFill>
              </a:rPr>
              <a:t>services </a:t>
            </a:r>
            <a:r>
              <a:rPr lang="ru-RU" sz="1400" dirty="0">
                <a:solidFill>
                  <a:schemeClr val="tx1"/>
                </a:solidFill>
              </a:rPr>
              <a:t>— приглашения, переписка, антифрод и индекс доверия, PDF-профиль с QR;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>
              <a:buFontTx/>
              <a:buChar char="-"/>
              <a:defRPr/>
            </a:pPr>
            <a:r>
              <a:rPr lang="ru-RU" sz="1400" b="1" dirty="0">
                <a:solidFill>
                  <a:schemeClr val="tx1"/>
                </a:solidFill>
              </a:rPr>
              <a:t>ATS API </a:t>
            </a:r>
            <a:r>
              <a:rPr lang="ru-RU" sz="1400" dirty="0">
                <a:solidFill>
                  <a:schemeClr val="tx1"/>
                </a:solidFill>
              </a:rPr>
              <a:t>— синхронизация вакансий, откликов и статусов, подписанные вебхуки.</a:t>
            </a: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5867363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ТЕХНИЧЕСКАЯ ПРОРАБОТКА РЕШЕНИЯ</a:t>
            </a:r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37313" y="1476583"/>
            <a:ext cx="5214724" cy="61573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1600" b="1" dirty="0">
                <a:solidFill>
                  <a:schemeClr val="accent5"/>
                </a:solidFill>
              </a:rPr>
              <a:t>Модульная архитектура:</a:t>
            </a:r>
          </a:p>
          <a:p>
            <a:pPr>
              <a:lnSpc>
                <a:spcPct val="100000"/>
              </a:lnSpc>
              <a:defRPr/>
            </a:pPr>
            <a:endParaRPr lang="ru-RU" sz="1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953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957439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5733834" cy="376138"/>
          </a:xfrm>
        </p:spPr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3" name="Номер слайда 12">
            <a:extLst>
              <a:ext uri="{FF2B5EF4-FFF2-40B4-BE49-F238E27FC236}">
                <a16:creationId xmlns:a16="http://schemas.microsoft.com/office/drawing/2014/main" id="{A8A64C13-0D66-48C9-BEA5-56FD0564014C}"/>
              </a:ext>
            </a:extLst>
          </p:cNvPr>
          <p:cNvSpPr txBox="1">
            <a:spLocks/>
          </p:cNvSpPr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220" rtl="0">
              <a:defRPr sz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4" name="Текст 1">
            <a:extLst>
              <a:ext uri="{FF2B5EF4-FFF2-40B4-BE49-F238E27FC236}">
                <a16:creationId xmlns:a16="http://schemas.microsoft.com/office/drawing/2014/main" id="{66BF9014-DA14-402F-9B29-F8E47EC6A4C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auto">
          <a:xfrm>
            <a:off x="346075" y="1612014"/>
            <a:ext cx="2526079" cy="122913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algn="ctr">
              <a:defRPr/>
            </a:pPr>
            <a:r>
              <a:rPr lang="ru-RU" sz="1800" b="1" dirty="0"/>
              <a:t>Опрос, специализация и выбор грейда</a:t>
            </a:r>
          </a:p>
        </p:txBody>
      </p:sp>
      <p:cxnSp>
        <p:nvCxnSpPr>
          <p:cNvPr id="60" name="Прямая соединительная линия 33">
            <a:extLst>
              <a:ext uri="{FF2B5EF4-FFF2-40B4-BE49-F238E27FC236}">
                <a16:creationId xmlns:a16="http://schemas.microsoft.com/office/drawing/2014/main" id="{C6062954-638C-4EFD-AE1C-C74258BABCAB}"/>
              </a:ext>
            </a:extLst>
          </p:cNvPr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34">
            <a:extLst>
              <a:ext uri="{FF2B5EF4-FFF2-40B4-BE49-F238E27FC236}">
                <a16:creationId xmlns:a16="http://schemas.microsoft.com/office/drawing/2014/main" id="{88595735-B476-467A-A601-D85B48F51A4C}"/>
              </a:ext>
            </a:extLst>
          </p:cNvPr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35">
            <a:extLst>
              <a:ext uri="{FF2B5EF4-FFF2-40B4-BE49-F238E27FC236}">
                <a16:creationId xmlns:a16="http://schemas.microsoft.com/office/drawing/2014/main" id="{6AB01AB7-23E1-4B87-8289-8019E5A878D7}"/>
              </a:ext>
            </a:extLst>
          </p:cNvPr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36">
            <a:extLst>
              <a:ext uri="{FF2B5EF4-FFF2-40B4-BE49-F238E27FC236}">
                <a16:creationId xmlns:a16="http://schemas.microsoft.com/office/drawing/2014/main" id="{6FE03846-0989-4E93-A4CD-C8A894488263}"/>
              </a:ext>
            </a:extLst>
          </p:cNvPr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37">
            <a:extLst>
              <a:ext uri="{FF2B5EF4-FFF2-40B4-BE49-F238E27FC236}">
                <a16:creationId xmlns:a16="http://schemas.microsoft.com/office/drawing/2014/main" id="{0D979BF8-B952-4160-99CC-D242C147BB3D}"/>
              </a:ext>
            </a:extLst>
          </p:cNvPr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38">
            <a:extLst>
              <a:ext uri="{FF2B5EF4-FFF2-40B4-BE49-F238E27FC236}">
                <a16:creationId xmlns:a16="http://schemas.microsoft.com/office/drawing/2014/main" id="{EDB6534B-A7AB-4C00-A2FA-C36124111CFB}"/>
              </a:ext>
            </a:extLst>
          </p:cNvPr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39">
            <a:extLst>
              <a:ext uri="{FF2B5EF4-FFF2-40B4-BE49-F238E27FC236}">
                <a16:creationId xmlns:a16="http://schemas.microsoft.com/office/drawing/2014/main" id="{A18FAF73-65A0-45A1-8C3E-C0A8D35E4CC7}"/>
              </a:ext>
            </a:extLst>
          </p:cNvPr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40">
            <a:extLst>
              <a:ext uri="{FF2B5EF4-FFF2-40B4-BE49-F238E27FC236}">
                <a16:creationId xmlns:a16="http://schemas.microsoft.com/office/drawing/2014/main" id="{FC718ED6-C11B-4612-9F18-AD4CD129855B}"/>
              </a:ext>
            </a:extLst>
          </p:cNvPr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41">
            <a:extLst>
              <a:ext uri="{FF2B5EF4-FFF2-40B4-BE49-F238E27FC236}">
                <a16:creationId xmlns:a16="http://schemas.microsoft.com/office/drawing/2014/main" id="{4A4E5705-7945-4BE4-8B7B-BF6D183E3002}"/>
              </a:ext>
            </a:extLst>
          </p:cNvPr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Скругленный прямоугольник 42">
            <a:extLst>
              <a:ext uri="{FF2B5EF4-FFF2-40B4-BE49-F238E27FC236}">
                <a16:creationId xmlns:a16="http://schemas.microsoft.com/office/drawing/2014/main" id="{300BFBFB-08BC-4555-87C0-9B0A5B86D9AB}"/>
              </a:ext>
            </a:extLst>
          </p:cNvPr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0" cap="none" spc="0" normalizeH="0" baseline="0" noProof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1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93" name="Скругленный прямоугольник 43">
            <a:extLst>
              <a:ext uri="{FF2B5EF4-FFF2-40B4-BE49-F238E27FC236}">
                <a16:creationId xmlns:a16="http://schemas.microsoft.com/office/drawing/2014/main" id="{7310B4A5-B3C8-4755-9E99-C764A6F5A913}"/>
              </a:ext>
            </a:extLst>
          </p:cNvPr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0" cap="none" spc="0" normalizeH="0" baseline="0" noProof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94" name="Скругленный прямоугольник 44">
            <a:extLst>
              <a:ext uri="{FF2B5EF4-FFF2-40B4-BE49-F238E27FC236}">
                <a16:creationId xmlns:a16="http://schemas.microsoft.com/office/drawing/2014/main" id="{75B2D2F9-111E-42D6-933F-928F5459898F}"/>
              </a:ext>
            </a:extLst>
          </p:cNvPr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0" cap="none" spc="0" normalizeH="0" baseline="0" noProof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3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95" name="Скругленный прямоугольник 52">
            <a:extLst>
              <a:ext uri="{FF2B5EF4-FFF2-40B4-BE49-F238E27FC236}">
                <a16:creationId xmlns:a16="http://schemas.microsoft.com/office/drawing/2014/main" id="{83375D22-2797-4F86-B894-CBFBC676E86D}"/>
              </a:ext>
            </a:extLst>
          </p:cNvPr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0" cap="none" spc="0" normalizeH="0" baseline="0" noProof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4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96" name="Скругленный прямоугольник 53">
            <a:extLst>
              <a:ext uri="{FF2B5EF4-FFF2-40B4-BE49-F238E27FC236}">
                <a16:creationId xmlns:a16="http://schemas.microsoft.com/office/drawing/2014/main" id="{ECB71278-D1AE-43A5-8BB0-CE6E8F92EE79}"/>
              </a:ext>
            </a:extLst>
          </p:cNvPr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0" cap="none" spc="0" normalizeH="0" baseline="0" noProof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5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97" name="Скругленный прямоугольник 13">
            <a:extLst>
              <a:ext uri="{FF2B5EF4-FFF2-40B4-BE49-F238E27FC236}">
                <a16:creationId xmlns:a16="http://schemas.microsoft.com/office/drawing/2014/main" id="{3F7F2DC1-4C3D-4547-BF7D-DD7EE4C14FF4}"/>
              </a:ext>
            </a:extLst>
          </p:cNvPr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09" name="Скругленный прямоугольник 15">
            <a:extLst>
              <a:ext uri="{FF2B5EF4-FFF2-40B4-BE49-F238E27FC236}">
                <a16:creationId xmlns:a16="http://schemas.microsoft.com/office/drawing/2014/main" id="{C25B5D10-1512-4416-8F10-3F858F339244}"/>
              </a:ext>
            </a:extLst>
          </p:cNvPr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10" name="Скругленный прямоугольник 16">
            <a:extLst>
              <a:ext uri="{FF2B5EF4-FFF2-40B4-BE49-F238E27FC236}">
                <a16:creationId xmlns:a16="http://schemas.microsoft.com/office/drawing/2014/main" id="{CBB286FD-8164-4650-A28C-7AC93B1F13A4}"/>
              </a:ext>
            </a:extLst>
          </p:cNvPr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11" name="Скругленный прямоугольник 17">
            <a:extLst>
              <a:ext uri="{FF2B5EF4-FFF2-40B4-BE49-F238E27FC236}">
                <a16:creationId xmlns:a16="http://schemas.microsoft.com/office/drawing/2014/main" id="{987642A9-879F-4C8C-959C-1D51B5DF6AE3}"/>
              </a:ext>
            </a:extLst>
          </p:cNvPr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12" name="Скругленный прямоугольник 18">
            <a:extLst>
              <a:ext uri="{FF2B5EF4-FFF2-40B4-BE49-F238E27FC236}">
                <a16:creationId xmlns:a16="http://schemas.microsoft.com/office/drawing/2014/main" id="{310E95DB-8647-4DE0-BFD3-CFEA3CC3E8E6}"/>
              </a:ext>
            </a:extLst>
          </p:cNvPr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>
              <a:ln>
                <a:noFill/>
              </a:ln>
              <a:solidFill>
                <a:srgbClr val="FF005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13" name="Скругленный прямоугольник 9">
            <a:extLst>
              <a:ext uri="{FF2B5EF4-FFF2-40B4-BE49-F238E27FC236}">
                <a16:creationId xmlns:a16="http://schemas.microsoft.com/office/drawing/2014/main" id="{2F4DA60B-955D-4D16-88D5-26C2544CD267}"/>
              </a:ext>
            </a:extLst>
          </p:cNvPr>
          <p:cNvSpPr/>
          <p:nvPr/>
        </p:nvSpPr>
        <p:spPr bwMode="auto">
          <a:xfrm>
            <a:off x="346075" y="324562"/>
            <a:ext cx="609768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14" name="Заголовок 13">
            <a:extLst>
              <a:ext uri="{FF2B5EF4-FFF2-40B4-BE49-F238E27FC236}">
                <a16:creationId xmlns:a16="http://schemas.microsoft.com/office/drawing/2014/main" id="{DA326B42-EF31-487E-A4CF-F74217A1EAA8}"/>
              </a:ext>
            </a:extLst>
          </p:cNvPr>
          <p:cNvSpPr txBox="1">
            <a:spLocks/>
          </p:cNvSpPr>
          <p:nvPr/>
        </p:nvSpPr>
        <p:spPr bwMode="auto">
          <a:xfrm>
            <a:off x="525817" y="456851"/>
            <a:ext cx="5867363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Montserrat"/>
              </a:defRPr>
            </a:lvl1pPr>
          </a:lstStyle>
          <a:p>
            <a:pPr marL="0" marR="0" lvl="0" indent="0" algn="l" defTabSz="57875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"/>
              </a:rPr>
              <a:t>ТЕХНИЧЕСКАЯ ПРОРАБОТКА РЕШЕНИЯ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91D941E-F66E-4F44-A3CE-F3D040A91BB8}"/>
              </a:ext>
            </a:extLst>
          </p:cNvPr>
          <p:cNvSpPr txBox="1"/>
          <p:nvPr/>
        </p:nvSpPr>
        <p:spPr>
          <a:xfrm>
            <a:off x="2721727" y="5177513"/>
            <a:ext cx="22561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t>Адаптивный тест: 8–22 задания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1420201-FE3F-4608-9902-E498D18543AD}"/>
              </a:ext>
            </a:extLst>
          </p:cNvPr>
          <p:cNvSpPr txBox="1"/>
          <p:nvPr/>
        </p:nvSpPr>
        <p:spPr>
          <a:xfrm>
            <a:off x="4862278" y="1636280"/>
            <a:ext cx="24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t>Категория «специализация × грейд»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7AD14ED-B11D-4956-8CC4-D4645BDC108E}"/>
              </a:ext>
            </a:extLst>
          </p:cNvPr>
          <p:cNvSpPr txBox="1"/>
          <p:nvPr/>
        </p:nvSpPr>
        <p:spPr>
          <a:xfrm>
            <a:off x="7238082" y="5256183"/>
            <a:ext cx="2313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t>Подборка с объяснением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4009993-7454-4B4E-A845-64584A191ACD}"/>
              </a:ext>
            </a:extLst>
          </p:cNvPr>
          <p:cNvSpPr txBox="1"/>
          <p:nvPr/>
        </p:nvSpPr>
        <p:spPr bwMode="auto">
          <a:xfrm>
            <a:off x="9174832" y="1705625"/>
            <a:ext cx="26710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t>Приглашение с вилкой, контакты по согласию</a:t>
            </a:r>
          </a:p>
        </p:txBody>
      </p:sp>
    </p:spTree>
    <p:extLst>
      <p:ext uri="{BB962C8B-B14F-4D97-AF65-F5344CB8AC3E}">
        <p14:creationId xmlns:p14="http://schemas.microsoft.com/office/powerpoint/2010/main" val="3128550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93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01" name="Карточка 5001"/>
          <p:cNvSpPr/>
          <p:nvPr/>
        </p:nvSpPr>
        <p:spPr>
          <a:xfrm>
            <a:off x="346075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02" name="Показатель 5002"/>
          <p:cNvSpPr txBox="1"/>
          <p:nvPr/>
        </p:nvSpPr>
        <p:spPr>
          <a:xfrm>
            <a:off x="546075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226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семейств-генераторов заданий для 8 специализаций</a:t>
            </a:r>
          </a:p>
        </p:txBody>
      </p:sp>
      <p:sp>
        <p:nvSpPr>
          <p:cNvPr id="5003" name="Карточка 5003"/>
          <p:cNvSpPr/>
          <p:nvPr/>
        </p:nvSpPr>
        <p:spPr>
          <a:xfrm>
            <a:off x="3234478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04" name="Показатель 5004"/>
          <p:cNvSpPr txBox="1"/>
          <p:nvPr/>
        </p:nvSpPr>
        <p:spPr>
          <a:xfrm>
            <a:off x="3354819" y="1361284"/>
            <a:ext cx="248886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1 200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виртуальных кандидатов в Монте-Карло, каждый — дважды</a:t>
            </a:r>
          </a:p>
        </p:txBody>
      </p:sp>
      <p:sp>
        <p:nvSpPr>
          <p:cNvPr id="5005" name="Карточка 5005"/>
          <p:cNvSpPr/>
          <p:nvPr/>
        </p:nvSpPr>
        <p:spPr>
          <a:xfrm>
            <a:off x="6122881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06" name="Показатель 5006"/>
          <p:cNvSpPr txBox="1"/>
          <p:nvPr/>
        </p:nvSpPr>
        <p:spPr>
          <a:xfrm>
            <a:off x="6322881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217 × 620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потребностей × кандидатов в проверке подбора</a:t>
            </a:r>
          </a:p>
        </p:txBody>
      </p:sp>
      <p:sp>
        <p:nvSpPr>
          <p:cNvPr id="5007" name="Карточка 5007"/>
          <p:cNvSpPr/>
          <p:nvPr/>
        </p:nvSpPr>
        <p:spPr>
          <a:xfrm>
            <a:off x="9011284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08" name="Показатель 5008"/>
          <p:cNvSpPr txBox="1"/>
          <p:nvPr/>
        </p:nvSpPr>
        <p:spPr>
          <a:xfrm>
            <a:off x="9211284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918 / 918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ключей ответов совпали при исполнении кода</a:t>
            </a:r>
          </a:p>
        </p:txBody>
      </p:sp>
      <p:sp>
        <p:nvSpPr>
          <p:cNvPr id="5009" name="Карточка 5009"/>
          <p:cNvSpPr/>
          <p:nvPr/>
        </p:nvSpPr>
        <p:spPr>
          <a:xfrm>
            <a:off x="346075" y="2589884"/>
            <a:ext cx="5548206" cy="36108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10" name="Заголовок карточки 5010"/>
          <p:cNvSpPr txBox="1"/>
          <p:nvPr/>
        </p:nvSpPr>
        <p:spPr>
          <a:xfrm>
            <a:off x="606075" y="2819884"/>
            <a:ext cx="5028206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Синтетическая популяция со скрытой истиной</a:t>
            </a:r>
            <a:endParaRPr kumimoji="0" lang="ru-RU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11" name="Текст 5011"/>
          <p:cNvSpPr txBox="1"/>
          <p:nvPr/>
        </p:nvSpPr>
        <p:spPr>
          <a:xfrm>
            <a:off x="606075" y="3269884"/>
            <a:ext cx="5028206" cy="28108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Истина скрыта от системы: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у каждого кандидата есть истинная способность θ, грейд и реальные навыки.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Шум как в жизни: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25% завышают грейд, 20% «набивают» резюме; ответы — по 3PL с параметрами, отличными от калибровочных.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ФСП: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у 36% кандидатов есть история соревнований, сила спортсмена коррелирует с θ.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Независимые наборы: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веса подбора подобраны на одних наборах потребностей, метрики посчитаны на других.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Воспроизводимость: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один прогон run_all (≈ 10 с), отчёт — на странице /validation.</a:t>
            </a:r>
          </a:p>
        </p:txBody>
      </p:sp>
      <p:sp>
        <p:nvSpPr>
          <p:cNvPr id="5012" name="Карточка 5012"/>
          <p:cNvSpPr/>
          <p:nvPr/>
        </p:nvSpPr>
        <p:spPr>
          <a:xfrm>
            <a:off x="6122881" y="2589884"/>
            <a:ext cx="5548206" cy="36108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13" name="Заголовок карточки 5013"/>
          <p:cNvSpPr txBox="1"/>
          <p:nvPr/>
        </p:nvSpPr>
        <p:spPr>
          <a:xfrm>
            <a:off x="6382881" y="2819884"/>
            <a:ext cx="5028206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Проверка на внешних данных</a:t>
            </a:r>
            <a:endParaRPr kumimoji="0" lang="ru-RU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14" name="Текст 5014"/>
          <p:cNvSpPr txBox="1"/>
          <p:nvPr/>
        </p:nvSpPr>
        <p:spPr>
          <a:xfrm>
            <a:off x="6382881" y="3269884"/>
            <a:ext cx="5028206" cy="28108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Резюме: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40 вручную размеченных резюме (hh.ru, LinkedIn, свободный текст); навыки на отложенном наборе — F1 0,94 с первого замера.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Ключи ответов: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фрагменты кода запускаются настоящими компиляторами 9 языков, SQL — в SQLite.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Набор жюри: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свои пары «вакансия — кандидат» загружаются на /validation или через API — считаются те же метрики.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Внешний пример: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47 вакансий и 5 728 пар — nDCG@10 0,785 против 0,581 у поиска по резюме.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Реальные данные: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калибровка банка на 300–500 прохождениях участников ФСП после хакатона.</a:t>
            </a: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3680000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ДАННЫЕ И ВАЛИДАЦИЯ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0157BA-7BF8-463E-920A-46DA72F7083F}"/>
              </a:ext>
            </a:extLst>
          </p:cNvPr>
          <p:cNvSpPr txBox="1"/>
          <p:nvPr/>
        </p:nvSpPr>
        <p:spPr>
          <a:xfrm>
            <a:off x="346075" y="6254920"/>
            <a:ext cx="114860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t>θ — </a:t>
            </a:r>
            <a:r>
              <a:rPr kumimoji="0" lang="ru-RU" sz="11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t>способность по шкале IRT; 3PL — трёхпараметрическая модель ответа на задание; nDCG@10 — качество порядка первых 10 кандидатов</a:t>
            </a:r>
          </a:p>
        </p:txBody>
      </p:sp>
    </p:spTree>
    <p:extLst>
      <p:ext uri="{BB962C8B-B14F-4D97-AF65-F5344CB8AC3E}">
        <p14:creationId xmlns:p14="http://schemas.microsoft.com/office/powerpoint/2010/main" val="2189710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56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27" name="Карточка 5027"/>
          <p:cNvSpPr/>
          <p:nvPr/>
        </p:nvSpPr>
        <p:spPr>
          <a:xfrm>
            <a:off x="346075" y="1211284"/>
            <a:ext cx="8446412" cy="49894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28" name="Заголовок карточки 5028"/>
          <p:cNvSpPr txBox="1"/>
          <p:nvPr/>
        </p:nvSpPr>
        <p:spPr>
          <a:xfrm>
            <a:off x="576075" y="1411284"/>
            <a:ext cx="7986412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Механика подбора: 217 потребностей × 620 кандидатов</a:t>
            </a:r>
            <a:endParaRPr kumimoji="0" lang="ru-RU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graphicFrame>
        <p:nvGraphicFramePr>
          <p:cNvPr id="5025" name="Таблица 5025"/>
          <p:cNvGraphicFramePr>
            <a:graphicFrameLocks noGrp="1"/>
          </p:cNvGraphicFramePr>
          <p:nvPr/>
        </p:nvGraphicFramePr>
        <p:xfrm>
          <a:off x="576075" y="2106709"/>
          <a:ext cx="7986412" cy="3080000"/>
        </p:xfrm>
        <a:graphic>
          <a:graphicData uri="http://schemas.openxmlformats.org/drawingml/2006/table">
            <a:tbl>
              <a:tblPr firstRow="1" bandRow="1"/>
              <a:tblGrid>
                <a:gridCol w="2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2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32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Ранжирование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P@5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P@10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nDCG@10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MRR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Recall@30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Поиск по ключевым словам резюме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0,59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0,52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0,54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0,78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0,69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Самоописанная категория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0,73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0,62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0,68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0,91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0,86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Драфт — полная модель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0,85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0,72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0,79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0,98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0,91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Драфт с экспертными весами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0,83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0,71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0,77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0,97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0,90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Драфт без учёта ФСП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0,84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0,71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0,79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0,98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0,91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Драфт без смежных категорий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0,84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0,72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0,79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0,98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0,78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29" name="Карточка 5029"/>
          <p:cNvSpPr/>
          <p:nvPr/>
        </p:nvSpPr>
        <p:spPr>
          <a:xfrm>
            <a:off x="9021087" y="1211284"/>
            <a:ext cx="2650000" cy="1510764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30" name="Показатель 5030"/>
          <p:cNvSpPr txBox="1"/>
          <p:nvPr/>
        </p:nvSpPr>
        <p:spPr>
          <a:xfrm>
            <a:off x="9221087" y="1361284"/>
            <a:ext cx="2394838" cy="12607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81%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грейд по тесту совпал с истинным (самооценка — 74%)</a:t>
            </a:r>
          </a:p>
        </p:txBody>
      </p:sp>
      <p:sp>
        <p:nvSpPr>
          <p:cNvPr id="5031" name="Карточка 5031"/>
          <p:cNvSpPr/>
          <p:nvPr/>
        </p:nvSpPr>
        <p:spPr>
          <a:xfrm>
            <a:off x="9021087" y="2950648"/>
            <a:ext cx="2650000" cy="1510764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32" name="Показатель 5032"/>
          <p:cNvSpPr txBox="1"/>
          <p:nvPr/>
        </p:nvSpPr>
        <p:spPr>
          <a:xfrm>
            <a:off x="9221086" y="3100648"/>
            <a:ext cx="2344837" cy="12607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0,79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nDCG@10 подбора против 0,54 у поиска по резюме</a:t>
            </a:r>
          </a:p>
        </p:txBody>
      </p:sp>
      <p:sp>
        <p:nvSpPr>
          <p:cNvPr id="5033" name="Карточка 5033"/>
          <p:cNvSpPr/>
          <p:nvPr/>
        </p:nvSpPr>
        <p:spPr>
          <a:xfrm>
            <a:off x="9021087" y="4690012"/>
            <a:ext cx="2650000" cy="1510764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34" name="Показатель 5034"/>
          <p:cNvSpPr txBox="1"/>
          <p:nvPr/>
        </p:nvSpPr>
        <p:spPr>
          <a:xfrm>
            <a:off x="9221087" y="4840012"/>
            <a:ext cx="2344836" cy="12607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5%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проходят чужой грейд при утечке ответов (статичный банк — 97%)</a:t>
            </a: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3310000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МЕТРИКИ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2448862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467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45" name="Карточка 5045"/>
          <p:cNvSpPr/>
          <p:nvPr/>
        </p:nvSpPr>
        <p:spPr>
          <a:xfrm>
            <a:off x="346075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46" name="Показатель 5046"/>
          <p:cNvSpPr txBox="1"/>
          <p:nvPr/>
        </p:nvSpPr>
        <p:spPr>
          <a:xfrm>
            <a:off x="546075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498 RPS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20 пользователей, p95 ≤ 0,13 с, 0 ошибок</a:t>
            </a:r>
          </a:p>
        </p:txBody>
      </p:sp>
      <p:sp>
        <p:nvSpPr>
          <p:cNvPr id="5047" name="Карточка 5047"/>
          <p:cNvSpPr/>
          <p:nvPr/>
        </p:nvSpPr>
        <p:spPr>
          <a:xfrm>
            <a:off x="3234478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48" name="Показатель 5048"/>
          <p:cNvSpPr txBox="1"/>
          <p:nvPr/>
        </p:nvSpPr>
        <p:spPr>
          <a:xfrm>
            <a:off x="3434478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432 RPS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50 пользователей, p95 ≤ 0,30 с, 0 ошибок</a:t>
            </a:r>
          </a:p>
        </p:txBody>
      </p:sp>
      <p:sp>
        <p:nvSpPr>
          <p:cNvPr id="5049" name="Карточка 5049"/>
          <p:cNvSpPr/>
          <p:nvPr/>
        </p:nvSpPr>
        <p:spPr>
          <a:xfrm>
            <a:off x="6122881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50" name="Показатель 5050"/>
          <p:cNvSpPr txBox="1"/>
          <p:nvPr/>
        </p:nvSpPr>
        <p:spPr>
          <a:xfrm>
            <a:off x="6322881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&lt; 50 мс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выдача следующего задания адаптивного теста</a:t>
            </a:r>
          </a:p>
        </p:txBody>
      </p:sp>
      <p:sp>
        <p:nvSpPr>
          <p:cNvPr id="5051" name="Карточка 5051"/>
          <p:cNvSpPr/>
          <p:nvPr/>
        </p:nvSpPr>
        <p:spPr>
          <a:xfrm>
            <a:off x="9011284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52" name="Показатель 5052"/>
          <p:cNvSpPr txBox="1"/>
          <p:nvPr/>
        </p:nvSpPr>
        <p:spPr>
          <a:xfrm>
            <a:off x="9211284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≈ 1 ГБ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RAM на весь стек под нагрузкой, без GPU</a:t>
            </a:r>
          </a:p>
        </p:txBody>
      </p:sp>
      <p:sp>
        <p:nvSpPr>
          <p:cNvPr id="5053" name="Карточка 5053"/>
          <p:cNvSpPr/>
          <p:nvPr/>
        </p:nvSpPr>
        <p:spPr>
          <a:xfrm>
            <a:off x="346075" y="2589884"/>
            <a:ext cx="5100000" cy="36108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54" name="Заголовок карточки 5054"/>
          <p:cNvSpPr txBox="1"/>
          <p:nvPr/>
        </p:nvSpPr>
        <p:spPr>
          <a:xfrm>
            <a:off x="576075" y="2789884"/>
            <a:ext cx="4640000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Системные требования</a:t>
            </a:r>
            <a:endParaRPr kumimoji="0" lang="ru-RU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graphicFrame>
        <p:nvGraphicFramePr>
          <p:cNvPr id="5043" name="Таблица 5043"/>
          <p:cNvGraphicFramePr>
            <a:graphicFrameLocks noGrp="1"/>
          </p:cNvGraphicFramePr>
          <p:nvPr/>
        </p:nvGraphicFramePr>
        <p:xfrm>
          <a:off x="576075" y="3209884"/>
          <a:ext cx="4640000" cy="1800000"/>
        </p:xfrm>
        <a:graphic>
          <a:graphicData uri="http://schemas.openxmlformats.org/drawingml/2006/table">
            <a:tbl>
              <a:tblPr firstRow="1" bandRow="1"/>
              <a:tblGrid>
                <a:gridCol w="1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Ресурс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Минимум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Рекомендуется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CPU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1 ядро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4 ядра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RAM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1 ГБ + swap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4 ГБ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Диск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2 ГБ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SSD 10 ГБ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GPU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не нужен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не нужен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44" name="Текст 5044"/>
          <p:cNvSpPr txBox="1"/>
          <p:nvPr/>
        </p:nvSpPr>
        <p:spPr>
          <a:xfrm>
            <a:off x="576075" y="5189884"/>
            <a:ext cx="4640000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Docker Compose: PostgreSQL 16, backend, frontend (nginx), демо ФСП ID, демо-почта. Замер — 5 ядер и 4 ГБ; демо-стенд sporthackathon.ru работает на 1 vCPU и 1 ГБ RAM.</a:t>
            </a:r>
          </a:p>
        </p:txBody>
      </p:sp>
      <p:sp>
        <p:nvSpPr>
          <p:cNvPr id="5055" name="Карточка 5055"/>
          <p:cNvSpPr/>
          <p:nvPr/>
        </p:nvSpPr>
        <p:spPr>
          <a:xfrm>
            <a:off x="5674675" y="2589884"/>
            <a:ext cx="5996412" cy="36108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56" name="Заголовок карточки 5056"/>
          <p:cNvSpPr txBox="1"/>
          <p:nvPr/>
        </p:nvSpPr>
        <p:spPr>
          <a:xfrm>
            <a:off x="5904675" y="2789884"/>
            <a:ext cx="5536412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Ограничения решения</a:t>
            </a:r>
            <a:endParaRPr kumimoji="0" lang="ru-RU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57" name="Текст 5057"/>
          <p:cNvSpPr txBox="1"/>
          <p:nvPr/>
        </p:nvSpPr>
        <p:spPr>
          <a:xfrm>
            <a:off x="5904675" y="3239884"/>
            <a:ext cx="5536412" cy="28608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Параметры заданий экспертные: </a:t>
            </a:r>
            <a:r>
              <a:rPr kumimoji="0" lang="ru-RU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уточняются онлайн-калибровкой, нужна калибровка на реальных прохождениях.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Подбор проверен на синтетике: </a:t>
            </a:r>
            <a:r>
              <a:rPr kumimoji="0" lang="ru-RU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нужны разметка рекрутерами и A/B-тест в продукте.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Живую подсказку тест ловит слабо: </a:t>
            </a:r>
            <a:r>
              <a:rPr kumimoji="0" lang="ru-RU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детектор находит 5% — для спорных попыток нужен прокторинг.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ФСП ID и реестр — демо-стенд: </a:t>
            </a:r>
            <a:r>
              <a:rPr kumimoji="0" lang="ru-RU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контракт Keycloak, переход без изменения кода платформы.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Дизайнеры и Lead-роли: </a:t>
            </a:r>
            <a:r>
              <a:rPr kumimoji="0" lang="ru-RU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концепция готова, банк заданий — после MVP.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Решение о найме </a:t>
            </a:r>
            <a:r>
              <a:rPr kumimoji="0" lang="ru-RU" sz="12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всегда за работодателем, о раскрытии контактов — за кандидатом.</a:t>
            </a: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4322344" cy="376138"/>
          </a:xfrm>
        </p:spPr>
        <p:txBody>
          <a:bodyPr/>
          <a:lstStyle/>
          <a:p>
            <a:pPr algn="ctr">
              <a:defRPr/>
            </a:pPr>
            <a:r>
              <a:rPr lang="ru-RU" dirty="0"/>
              <a:t>СКОРОСТЬ И ОГРАНИЧЕНИЯ</a:t>
            </a:r>
          </a:p>
        </p:txBody>
      </p:sp>
    </p:spTree>
    <p:extLst>
      <p:ext uri="{BB962C8B-B14F-4D97-AF65-F5344CB8AC3E}">
        <p14:creationId xmlns:p14="http://schemas.microsoft.com/office/powerpoint/2010/main" val="2181953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/>
          <p:cNvSpPr/>
          <p:nvPr/>
        </p:nvSpPr>
        <p:spPr bwMode="auto">
          <a:xfrm>
            <a:off x="926675" y="4315553"/>
            <a:ext cx="2772582" cy="2349482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295246643" name="Скругленный прямоугольник 9"/>
          <p:cNvSpPr/>
          <p:nvPr/>
        </p:nvSpPr>
        <p:spPr bwMode="auto">
          <a:xfrm>
            <a:off x="4528780" y="4293283"/>
            <a:ext cx="2950059" cy="2371752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566709802" name="Скругленный прямоугольник 10"/>
          <p:cNvSpPr/>
          <p:nvPr/>
        </p:nvSpPr>
        <p:spPr bwMode="auto">
          <a:xfrm>
            <a:off x="8425981" y="4293283"/>
            <a:ext cx="2950058" cy="2371752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43732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64567495" name="Скругленный прямоугольник 6"/>
          <p:cNvSpPr/>
          <p:nvPr/>
        </p:nvSpPr>
        <p:spPr bwMode="auto">
          <a:xfrm>
            <a:off x="429141" y="1366572"/>
            <a:ext cx="11524339" cy="2812666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830935763" name="Текст 2"/>
          <p:cNvSpPr>
            <a:spLocks noGrp="1"/>
          </p:cNvSpPr>
          <p:nvPr>
            <p:ph type="body" sz="quarter" idx="26"/>
          </p:nvPr>
        </p:nvSpPr>
        <p:spPr bwMode="auto">
          <a:xfrm rot="16200000">
            <a:off x="1303578" y="4486433"/>
            <a:ext cx="1568331" cy="192357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КАНДИДАТ</a:t>
            </a:r>
          </a:p>
        </p:txBody>
      </p:sp>
      <p:sp>
        <p:nvSpPr>
          <p:cNvPr id="1021543870" name="Текст 3"/>
          <p:cNvSpPr>
            <a:spLocks noGrp="1"/>
          </p:cNvSpPr>
          <p:nvPr>
            <p:ph type="body" sz="quarter" idx="31"/>
          </p:nvPr>
        </p:nvSpPr>
        <p:spPr bwMode="auto">
          <a:xfrm rot="16200000">
            <a:off x="3979419" y="5204424"/>
            <a:ext cx="2217885" cy="513784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РАБОТОДАТЕЛЬ</a:t>
            </a:r>
          </a:p>
        </p:txBody>
      </p:sp>
      <p:sp>
        <p:nvSpPr>
          <p:cNvPr id="1109396534" name="Текст 4"/>
          <p:cNvSpPr>
            <a:spLocks noGrp="1"/>
          </p:cNvSpPr>
          <p:nvPr>
            <p:ph type="body" sz="quarter" idx="32"/>
          </p:nvPr>
        </p:nvSpPr>
        <p:spPr bwMode="auto">
          <a:xfrm rot="16200000">
            <a:off x="8013806" y="5124660"/>
            <a:ext cx="1940609" cy="589808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ПРИГЛАШЕНИЕ</a:t>
            </a:r>
          </a:p>
        </p:txBody>
      </p:sp>
      <p:sp>
        <p:nvSpPr>
          <p:cNvPr id="1957439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1911"/>
            <a:ext cx="4044073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УНИКАЛЬНОСТЬ РЕШЕНИЯ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A66575-0736-4DC6-A465-EB0BD5DEF786}"/>
              </a:ext>
            </a:extLst>
          </p:cNvPr>
          <p:cNvSpPr txBox="1"/>
          <p:nvPr/>
        </p:nvSpPr>
        <p:spPr>
          <a:xfrm>
            <a:off x="583007" y="1607873"/>
            <a:ext cx="111798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t>Главное отличие «Драфта» от традиционных рекрутинговых платформ — изменение самой логики трудоустройства. Кандидаты не просто размещают резюме и ожидают откликов: система предварительно определяет их профессиональную категорию, после чего работодатель самостоятельно выбирает специалиста и выходит на контакт.</a:t>
            </a:r>
          </a:p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t>При этом ранжирование основано не исключительно на </a:t>
            </a:r>
            <a:r>
              <a:rPr kumimoji="0" lang="ru-RU" sz="12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t>самоописании</a:t>
            </a:r>
            <a:r>
              <a:rPr kumimoji="0" lang="ru-RU" sz="1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t>, а на результатах тестирования и подтверждённых достижениях. Это создаёт дополнительный уровень доверия к профессиональным характеристикам кандидата.</a:t>
            </a:r>
          </a:p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t>Ещё одно принципиальное отличие — прозрачность взаимодействия. Работодатель указывает зарплату уже в приглашении, а кандидат самостоятельно решает, предоставлять ли свои контакты.</a:t>
            </a:r>
          </a:p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t>Мы объединяем три механизма, которые обычно существуют раздельно: оценку квалификации, адресный подбор специалистов и подтверждение достижений в спортивном программировании.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1B6E8F-A636-48CD-AE89-B9BF7962C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417" y="4333535"/>
            <a:ext cx="1291545" cy="233679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2CD422-F2BA-46CE-9FF6-8A9ECAB95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661" y="4291913"/>
            <a:ext cx="1269197" cy="237284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DFD5865-08D0-4CC8-9821-B4B68425A2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5759" y="4309375"/>
            <a:ext cx="1291545" cy="23560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3" name="Номер слайда 12">
            <a:extLst>
              <a:ext uri="{FF2B5EF4-FFF2-40B4-BE49-F238E27FC236}">
                <a16:creationId xmlns:a16="http://schemas.microsoft.com/office/drawing/2014/main" id="{A8A64C13-0D66-48C9-BEA5-56FD0564014C}"/>
              </a:ext>
            </a:extLst>
          </p:cNvPr>
          <p:cNvSpPr txBox="1">
            <a:spLocks/>
          </p:cNvSpPr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220" rtl="0">
              <a:defRPr sz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113" name="Скругленный прямоугольник 9">
            <a:extLst>
              <a:ext uri="{FF2B5EF4-FFF2-40B4-BE49-F238E27FC236}">
                <a16:creationId xmlns:a16="http://schemas.microsoft.com/office/drawing/2014/main" id="{2F4DA60B-955D-4D16-88D5-26C2544CD267}"/>
              </a:ext>
            </a:extLst>
          </p:cNvPr>
          <p:cNvSpPr/>
          <p:nvPr/>
        </p:nvSpPr>
        <p:spPr bwMode="auto">
          <a:xfrm>
            <a:off x="346075" y="324562"/>
            <a:ext cx="43548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DF0D2B-A42F-4650-8FA0-220094F4A4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>
          <a:xfrm>
            <a:off x="0" y="1321523"/>
            <a:ext cx="7549672" cy="47530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Заголовок 13">
            <a:extLst>
              <a:ext uri="{FF2B5EF4-FFF2-40B4-BE49-F238E27FC236}">
                <a16:creationId xmlns:a16="http://schemas.microsoft.com/office/drawing/2014/main" id="{69A94EA9-F3D4-4CCC-BAFD-8B469F7CCEF2}"/>
              </a:ext>
            </a:extLst>
          </p:cNvPr>
          <p:cNvSpPr txBox="1">
            <a:spLocks/>
          </p:cNvSpPr>
          <p:nvPr/>
        </p:nvSpPr>
        <p:spPr bwMode="auto">
          <a:xfrm>
            <a:off x="525817" y="451911"/>
            <a:ext cx="4044073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Montserrat"/>
              </a:defRPr>
            </a:lvl1pPr>
          </a:lstStyle>
          <a:p>
            <a:pPr marL="0" marR="0" lvl="0" indent="0" algn="ctr" defTabSz="57875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Montserrat"/>
              </a:rPr>
              <a:t>ВИЗУАЛ РЕШЕНИЯ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9EF470-F43C-492B-80C0-279C5D5D4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595" y="2099605"/>
            <a:ext cx="6178112" cy="47530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3652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590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0" cap="none" spc="0" normalizeH="0" baseline="0" noProof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01" name="Карточка 5001"/>
          <p:cNvSpPr/>
          <p:nvPr/>
        </p:nvSpPr>
        <p:spPr>
          <a:xfrm>
            <a:off x="346075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02" name="Показатель 5002"/>
          <p:cNvSpPr txBox="1"/>
          <p:nvPr/>
        </p:nvSpPr>
        <p:spPr>
          <a:xfrm>
            <a:off x="546075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01 Пилот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ФСП и 3–5 работодателей-партнёров</a:t>
            </a:r>
          </a:p>
        </p:txBody>
      </p:sp>
      <p:sp>
        <p:nvSpPr>
          <p:cNvPr id="5003" name="Карточка 5003"/>
          <p:cNvSpPr/>
          <p:nvPr/>
        </p:nvSpPr>
        <p:spPr>
          <a:xfrm>
            <a:off x="3234478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04" name="Показатель 5004"/>
          <p:cNvSpPr txBox="1"/>
          <p:nvPr/>
        </p:nvSpPr>
        <p:spPr>
          <a:xfrm>
            <a:off x="3434478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02 Калибровка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банк на 300–500 прохождениях участников ФСП</a:t>
            </a:r>
          </a:p>
        </p:txBody>
      </p:sp>
      <p:sp>
        <p:nvSpPr>
          <p:cNvPr id="5005" name="Карточка 5005"/>
          <p:cNvSpPr/>
          <p:nvPr/>
        </p:nvSpPr>
        <p:spPr>
          <a:xfrm>
            <a:off x="6122881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06" name="Показатель 5006"/>
          <p:cNvSpPr txBox="1"/>
          <p:nvPr/>
        </p:nvSpPr>
        <p:spPr>
          <a:xfrm>
            <a:off x="6322881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03 ФСП ID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боевой Keycloak и реестр достижений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07" name="Карточка 5007"/>
          <p:cNvSpPr/>
          <p:nvPr/>
        </p:nvSpPr>
        <p:spPr>
          <a:xfrm>
            <a:off x="9011284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08" name="Показатель 5008"/>
          <p:cNvSpPr txBox="1"/>
          <p:nvPr/>
        </p:nvSpPr>
        <p:spPr>
          <a:xfrm>
            <a:off x="9211284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FF0053"/>
                </a:solidFill>
                <a:effectLst/>
                <a:uLnTx/>
                <a:uFillTx/>
                <a:latin typeface="Montserrat"/>
                <a:cs typeface="Arial"/>
              </a:rPr>
              <a:t>04 ATS</a:t>
            </a:r>
            <a:endParaRPr kumimoji="0" lang="ru-RU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  <a:p>
            <a:pPr marL="0" marR="0" lvl="0" indent="0" algn="l" defTabSz="91422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коннекторы к Huntflow, Potok, Talantix</a:t>
            </a:r>
          </a:p>
        </p:txBody>
      </p:sp>
      <p:sp>
        <p:nvSpPr>
          <p:cNvPr id="5009" name="Карточка 5009"/>
          <p:cNvSpPr/>
          <p:nvPr/>
        </p:nvSpPr>
        <p:spPr>
          <a:xfrm>
            <a:off x="346075" y="2589884"/>
            <a:ext cx="5548206" cy="36108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10" name="Заголовок карточки 5010"/>
          <p:cNvSpPr txBox="1"/>
          <p:nvPr/>
        </p:nvSpPr>
        <p:spPr>
          <a:xfrm>
            <a:off x="606075" y="2819884"/>
            <a:ext cx="5028206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Развитие механик</a:t>
            </a:r>
            <a:endParaRPr kumimoji="0" lang="ru-RU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11" name="Текст 5011"/>
          <p:cNvSpPr txBox="1"/>
          <p:nvPr/>
        </p:nvSpPr>
        <p:spPr>
          <a:xfrm>
            <a:off x="606075" y="3269884"/>
            <a:ext cx="5028206" cy="28108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Тестирование: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задания с исполнением кода в песочнице и проверяющими системами ФСП, банк — до 500+ семейств.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Подбор: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обучение ранжирования на исходах приглашений: принято → собеседование → найм.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Валидация: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разметка 20 × 30 пар рекрутерами, связь θ с рейтингом ФСП, A/B-тест.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Новые роли: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дизайнеры и Lead — задания с однозначным ответом и рубрики экспертов.</a:t>
            </a:r>
          </a:p>
        </p:txBody>
      </p:sp>
      <p:sp>
        <p:nvSpPr>
          <p:cNvPr id="5012" name="Карточка 5012"/>
          <p:cNvSpPr/>
          <p:nvPr/>
        </p:nvSpPr>
        <p:spPr>
          <a:xfrm>
            <a:off x="6122881" y="2589884"/>
            <a:ext cx="5548206" cy="36108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13" name="Заголовок карточки 5013"/>
          <p:cNvSpPr txBox="1"/>
          <p:nvPr/>
        </p:nvSpPr>
        <p:spPr>
          <a:xfrm>
            <a:off x="6382881" y="2819884"/>
            <a:ext cx="5028206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cs typeface="Arial"/>
              </a:rPr>
              <a:t>Развитие продукта</a:t>
            </a:r>
            <a:endParaRPr kumimoji="0" lang="ru-RU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5014" name="Текст 5014"/>
          <p:cNvSpPr txBox="1"/>
          <p:nvPr/>
        </p:nvSpPr>
        <p:spPr>
          <a:xfrm>
            <a:off x="6382881" y="3269884"/>
            <a:ext cx="5028206" cy="28108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Антифрод: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проверка юрлиц по ЕГРЮЛ, вход через Госуслуги для юрлиц, модерация по риску.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Кандидатам: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план развития по слабым компетенциям и рекомендации соревнований ФСП.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Масштабирование: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очередь задач, миграции Alembic, read-реплики PostgreSQL, метрики Prometheus.</a:t>
            </a:r>
          </a:p>
          <a:p>
            <a:pPr marL="171450" marR="0" lvl="0" indent="-171450" algn="l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53"/>
              </a:buClr>
              <a:buSzTx/>
              <a:buFont typeface="Montserrat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Монетизация: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</a:rPr>
              <a:t>подписка для работодателей; бесплатно для кандидатов и ФСП.</a:t>
            </a: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cs typeface="Arial"/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5600000" cy="376138"/>
          </a:xfrm>
        </p:spPr>
        <p:txBody>
          <a:bodyPr/>
          <a:lstStyle/>
          <a:p>
            <a:pPr algn="ctr">
              <a:defRPr/>
            </a:pPr>
            <a:r>
              <a:rPr lang="ru-RU" dirty="0"/>
              <a:t>ПЛАНЫ ПО РАЗВИТИЮ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3834431825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1_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11153</TotalTime>
  <Words>2187</Words>
  <Application>Microsoft Office PowerPoint</Application>
  <PresentationFormat>Широкоэкранный</PresentationFormat>
  <Paragraphs>260</Paragraphs>
  <Slides>16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Montserrat</vt:lpstr>
      <vt:lpstr>Wingdings</vt:lpstr>
      <vt:lpstr>Для Академия инноваторов 16_9</vt:lpstr>
      <vt:lpstr>1_Для Академия инноваторов 16_9</vt:lpstr>
      <vt:lpstr>ЭВЕКТИО</vt:lpstr>
      <vt:lpstr>КОМАНДА «ЭВЕКТИО»</vt:lpstr>
      <vt:lpstr>КОМАНДА «ЭВЕКТИО»</vt:lpstr>
      <vt:lpstr>КОМАНДА «ЭВЕКТИО»</vt:lpstr>
      <vt:lpstr>КОРОТКО О РЕШЕНИИ</vt:lpstr>
      <vt:lpstr>ПОДРОБНОЕ ОПИСАНИЕ РЕШЕНИЯ</vt:lpstr>
      <vt:lpstr>МАРКЕТИНГОВАЯ ЧАСТЬ РЕШЕНИЯ</vt:lpstr>
      <vt:lpstr>Презентация PowerPoint</vt:lpstr>
      <vt:lpstr>ТЕХНИЧЕСКАЯ ПРОРАБОТКА РЕШЕНИЯ</vt:lpstr>
      <vt:lpstr>Презентация PowerPoint</vt:lpstr>
      <vt:lpstr>ДАННЫЕ И ВАЛИДАЦИЯ</vt:lpstr>
      <vt:lpstr>МЕТРИКИ КАЧЕСТВА</vt:lpstr>
      <vt:lpstr>СКОРОСТЬ И ОГРАНИЧЕНИЯ</vt:lpstr>
      <vt:lpstr>УНИКАЛЬНОСТЬ РЕШЕНИЯ</vt:lpstr>
      <vt:lpstr>Презентация PowerPoint</vt:lpstr>
      <vt:lpstr>ПЛАНЫ ПО РАЗВИТИЮ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Zel</cp:lastModifiedBy>
  <cp:revision>107</cp:revision>
  <dcterms:created xsi:type="dcterms:W3CDTF">2023-05-15T07:36:23Z</dcterms:created>
  <dcterms:modified xsi:type="dcterms:W3CDTF">2026-10-09T09:20:43Z</dcterms:modified>
</cp:coreProperties>
</file>